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先自我介绍：我是沉默王二，这两天的课是一场完全开放、没有距离感的技术交流。大家在听课过程中，不管是技术、找工作还是人生规划的问题，随时可以打断我。今天这期杂志式讲义，会带大家走完派聪明 RAG、PaiCLI 和派简历三条主线。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先把课堂规矩讲清楚：这两天没有距离感，技术、求职、人生规划甚至恋爱问题都可以随时打断我。我答不上来的，现场让 Gemini 补位。先把气氛放开，后面讲项目大家才敢问。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先说成绩，不然大家可能提不起兴趣。我这些年改过的简历有 1095 份，归档在飞书多维表格里，985、211 的同学非常多，除了清华大学本科没有辅导过，其余院校基本都覆盖。拿到互联网大厂 offer 和转正的同学也很多，京东、腾讯、美团、字节、蚂蚁、拼多多、快手都有记录，这些都是学员私信发我的反馈。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除了简历辅导，我还开源了「二哥的 Java 进阶之路」，GitHub 上 1.7 万多 star；「王二讲 Agent」飞书知识库一周就有 3000 多阅读；抖音短视频账号每个月有 100 多万播放，近 30 日是 122.66 万。这些是大家信任这门课的背景，接下来我会把星球里的实战项目无私分享给大家，不需要付费。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这两天一共五条线索：先开放解疑；然后重点拆两个经典项目——派聪明企业级 RAG 和 PaiCLI 终端 Agent，它们最容易被面试官和 HR 青睐；第二天用派简历把这两个项目写成一页可直投的 PDF；最后聊聊 AI Agent 时代的工具和趋势。其他星球项目有需要也可以共享。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正式讲项目前先盘工具。我最近在用 DeepSeek Harness，市面上还有 Codex、ChatGPT、Claude Code、Gemini、豆包工作等等。工具没有高下，DeepSeek、Gemini、OpenAI 都可以聊，先挑顺手的用起来，后面讲的 PaiCLI 正是对标 Claude Code 做的。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第一阶段拆派聪明企业级 RAG。它不是玩具 demo，大厂小厂都能落地。先打破一个误解：RAG 远不止切碎文档算向量。真正能面试加分的是工程可靠性——大文件分片防重、异步消息不丢、宕机恢复、权限过滤、混合检索重排、带页码引用。先看界面，每条回答都能点回原文第几页。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大文件怎么传？前端按固定 5MB 切片上传，后端同时在三个地方记进度：Redis 位图 key 是 upload:{userId}:{fileMd5}，48 小时过期，缓存没了自动从数据库回填；MySQL 分片表用唯一键保证完整；MinIO 存分片本体。全部到齐后用数据库条件更新把状态从上传中改成合并中，合并到 merged/{fileMd5}，合并成功才清理临时分片，防止重复上传和半成品合并。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这一页讲可靠性，也是面试最爱追问的点。生产端用 Outbox 模式：改状态和写待发送记录在同一个数据库事务里，提交后线程池投 Kafka；万一线程池满或网络抖了，每 5 秒定时任务指数退避补发，封顶 300 秒。消费端条件更新认领 600 秒租约，先按 MD5 和上传者 ID 清旧索引，PDF 用 LiteParse 保留页码，其他格式用 Tika 切块，每写一批向量到 ES 就更新心跳；实例宕机心跳超 600 秒，每 60 秒的恢复任务把它放回队列，最多重试 3 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提问阶段是 ReAct 循环，大模型自己决定调 search_knowledge。先注入当前用户的组织标签和公开属性做权限过滤，不同部门只能看到自己权限内的文档；然后 BM25 关键词和 KNN 向量余弦并行召回，用 RRF 倒数排名融合，再交给 gte-rerank-v2 重排、按阈值过滤，把子分块扩展成完整父分块交给大模型。最后 SSE 流式输出，每句都带 (来源#编号: 文件名 | 第X页)，最多 4 轮 8 次工具调用。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第三个项目 PaiCLI，对标 Claude Code 和 Codex，是一个命令行 Agent。Java 21 写的，另外还有 Go、TypeScript、Python 版本。能力包括文件编辑、代码检索、终端执行、MCP 协议扩展和浏览器自动化。技术栈是 Java 21、DeepSeek API、MCP、CompletableFuture、Git 快照、JLine、Lanterna。先看它在终端里怎么思考、怎么调工具。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PaiCLI 提供三条核心执行路径，底层复用同一套工具注册表、长期记忆、回合快照和对话账本。默认是 ReAct 循环，边想边调工具；输入 /plan 或按 Shift+Tab 进入先规划后执行，适合复杂改造；输入 /team 触发多 Agent，Planner 拆解、Worker 并行、Reviewer 审查，把大任务分给三个角色。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 PaiCLI 最能体现工程深度的六点：9 层提示词分层加前缀缓存；手写 MCP 客户端；渐进式 Skill 加载省上下文；失控守卫和 5 轮停滞检测；按原始输入做权限策略、工具结果包进非信任边界防注入；Git 快照一键回滚。这些都是简历里能展开讲、面试能追问的细节。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第二天用派简历把前面两个项目写成一份一页可直投的 PDF。派聪明和 PaiCLI 分别作为两段项目经历，按职责、技术栈、量化成果分栏陈述，不堆空话。走完这一步，大家离开教室时手里就有一份能直接投出去的简历。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最后聊聊 AI Agent，这是这个时代绕不开的话题，以后不管做什么都可能用得上，想拿到不错的工作也得掌握它。DeepSeek、Gemini、OpenAI 都可以谈。两天下来，希望大家带走的是一份能直接投的简历和两个能讲透的项目，而不是一堆记不住的名词。谢谢大家。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P.01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09600" y="1168400"/>
            <a:ext cx="2743200" cy="3556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62000" y="1168400"/>
            <a:ext cx="2489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1E2C2"/>
                </a:solidFill>
                <a:latin typeface="Roboto Mono"/>
                <a:ea typeface="Roboto Mono"/>
                <a:cs typeface="Roboto Mono"/>
                <a:sym typeface="Roboto Mono"/>
              </a:rPr>
              <a:t>ISSUE NO.01 · SPECIAL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58800" y="1803400"/>
            <a:ext cx="7112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1646B8"/>
                </a:solidFill>
                <a:latin typeface="Anton"/>
                <a:ea typeface="Anton"/>
                <a:cs typeface="Anton"/>
                <a:sym typeface="Anton"/>
              </a:rPr>
              <a:t>THE AI BOOTCAMP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" y="3124200"/>
            <a:ext cx="1625600" cy="1016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84200" y="3454400"/>
            <a:ext cx="76200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在洛阳理工的两天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84200" y="4267200"/>
            <a:ext cx="7620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开放式 AI 实训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09600" y="5435600"/>
            <a:ext cx="711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派聪明 RAG · PaiCLI · 派简历 · AI Agent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1018" flipH="false" flipV="false">
            <a:off x="609610" y="5911850"/>
            <a:ext cx="396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609600" y="6045200"/>
            <a:ext cx="711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LECTURER / 沉默王二　·　2026.10.18　·　HENAN LUOYANG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0" r="0" t="129" b="129"/>
          <a:stretch>
            <a:fillRect/>
          </a:stretch>
        </p:blipFill>
        <p:spPr>
          <a:xfrm rot="0" flipH="false" flipV="false">
            <a:off x="7569200" y="1905000"/>
            <a:ext cx="4013200" cy="19177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7569200" y="1905000"/>
            <a:ext cx="4013200" cy="1917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180000" flipH="false" flipV="false">
            <a:off x="10236200" y="1473200"/>
            <a:ext cx="1346200" cy="330200"/>
          </a:xfrm>
          <a:prstGeom prst="roundRect">
            <a:avLst>
              <a:gd name="adj" fmla="val 0"/>
            </a:avLst>
          </a:prstGeom>
          <a:solidFill>
            <a:srgbClr val="F1A51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180000" flipH="false" flipV="false">
            <a:off x="10312400" y="1473200"/>
            <a:ext cx="1219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GUEST SPEAKER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569200" y="4191000"/>
            <a:ext cx="4013200" cy="1905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874000" y="4521200"/>
            <a:ext cx="3454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没有距离感的技术交流，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8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问题随时打断，现场一一回答。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SILENCE WANG-ER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P.02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1684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EDITOR'S NOTE · 卷首语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676400"/>
            <a:ext cx="660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没有距离感的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84200" y="2413000"/>
            <a:ext cx="660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646B8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开放式技术交流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26043" flipH="false" flipV="false">
            <a:off x="609624" y="33972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609600" y="3708400"/>
            <a:ext cx="66548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58333"/>
              </a:lnSpc>
              <a:defRPr/>
            </a:pPr>
            <a:r>
              <a:rPr lang="en-US" b="false" i="false" strike="noStrike" u="none" sz="16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这两天的课，是一场完全开放、没有任何距离感的技术交流。大家在听课过程中，有任何关于技术、关于找工作、关于人生规划的疑问，随时可以打断我。</a:t>
            </a:r>
            <a:endParaRPr lang="en-US" sz="1100"/>
          </a:p>
          <a:p>
            <a:pPr algn="just" marL="0" indent="0">
              <a:lnSpc>
                <a:spcPct val="158333"/>
              </a:lnSpc>
            </a:pPr>
            <a:r>
              <a:rPr lang="en-US" b="false" i="false" strike="noStrike" u="none" sz="16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技术的问题、人生的问题、求职的问题，甚至谈恋爱的问题都可以。当场回答不了的，我会让 Gemini 现场替我回答大家。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924800" y="1168400"/>
            <a:ext cx="3657600" cy="4826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229600" y="1524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F1A51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229600" y="2794000"/>
            <a:ext cx="304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22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问题随时打断，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22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现场一一回答。</a:t>
            </a:r>
          </a:p>
        </p:txBody>
      </p:sp>
      <p:cxnSp>
        <p:nvCxnSpPr>
          <p:cNvPr name="Connector 14" id="14"/>
          <p:cNvCxnSpPr/>
          <p:nvPr/>
        </p:nvCxnSpPr>
        <p:spPr>
          <a:xfrm rot="-47743" flipH="false" flipV="false">
            <a:off x="8229644" y="53022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1A51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5" id="15"/>
          <p:cNvSpPr txBox="true"/>
          <p:nvPr/>
        </p:nvSpPr>
        <p:spPr>
          <a:xfrm rot="0" flipH="false" flipV="false">
            <a:off x="8229600" y="54356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>
                    <a:alpha val="7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OPEN FLOOR · TWO DAYS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EDITOR'S NOTE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P.03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0922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TRACK RECORD · 战绩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498600"/>
            <a:ext cx="787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改过的简历，拿到的 offer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6043" flipH="false" flipV="false">
            <a:off x="609624" y="23304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646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09600" y="2590800"/>
            <a:ext cx="228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646B8"/>
                </a:solidFill>
                <a:latin typeface="Anton"/>
                <a:ea typeface="Anton"/>
                <a:cs typeface="Anton"/>
                <a:sym typeface="Anton"/>
              </a:rPr>
              <a:t>1095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09600" y="3403600"/>
            <a:ext cx="2667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份简历归档在飞书多维表格，985、211 占比很高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810000" y="2590800"/>
            <a:ext cx="254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4F87"/>
                </a:solidFill>
                <a:latin typeface="Anton"/>
                <a:ea typeface="Anton"/>
                <a:cs typeface="Anton"/>
                <a:sym typeface="Anton"/>
              </a:rPr>
              <a:t>985/211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810000" y="3403600"/>
            <a:ext cx="2667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院校覆盖很广，除清华大学本科外都有辅导过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112000" y="2616200"/>
            <a:ext cx="4470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大厂转正与 offer 记录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112000" y="3403600"/>
            <a:ext cx="4470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京东 · 腾讯 · 美团 · 字节 · 蚂蚁 · 拼多多 · 快手，均来自学员私信反馈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36" r="36" t="0" b="0"/>
          <a:stretch>
            <a:fillRect/>
          </a:stretch>
        </p:blipFill>
        <p:spPr>
          <a:xfrm rot="0" flipH="false" flipV="false">
            <a:off x="609600" y="3962400"/>
            <a:ext cx="3670300" cy="238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09600" y="3962400"/>
            <a:ext cx="3670300" cy="23876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0" r="0" t="87" b="87"/>
          <a:stretch>
            <a:fillRect/>
          </a:stretch>
        </p:blipFill>
        <p:spPr>
          <a:xfrm rot="0" flipH="false" flipV="false">
            <a:off x="4724400" y="3962400"/>
            <a:ext cx="3035300" cy="2387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4724400" y="3962400"/>
            <a:ext cx="3035300" cy="23876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31200" y="3962400"/>
            <a:ext cx="3251200" cy="23876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585200" y="4165600"/>
            <a:ext cx="2743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A51B"/>
                </a:solidFill>
                <a:latin typeface="Roboto Mono"/>
                <a:ea typeface="Roboto Mono"/>
                <a:cs typeface="Roboto Mono"/>
                <a:sym typeface="Roboto Mono"/>
              </a:rPr>
              <a:t>OFFER BOARD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585200" y="4572000"/>
            <a:ext cx="2743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4166"/>
              </a:lnSpc>
              <a:defRPr/>
            </a:pP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京东转正</a:t>
            </a:r>
            <a:endParaRPr lang="en-US" sz="1100"/>
          </a:p>
          <a:p>
            <a:pPr algn="l" marL="0" indent="0">
              <a:lnSpc>
                <a:spcPct val="154166"/>
              </a:lnSpc>
            </a:pP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腾讯转正</a:t>
            </a:r>
          </a:p>
          <a:p>
            <a:pPr algn="l" marL="0" indent="0">
              <a:lnSpc>
                <a:spcPct val="154166"/>
              </a:lnSpc>
            </a:pP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美团转正</a:t>
            </a:r>
          </a:p>
          <a:p>
            <a:pPr algn="l" marL="0" indent="0">
              <a:lnSpc>
                <a:spcPct val="154166"/>
              </a:lnSpc>
            </a:pP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字节转正 · 蚂蚁转正</a:t>
            </a:r>
          </a:p>
          <a:p>
            <a:pPr algn="l" marL="0" indent="0">
              <a:lnSpc>
                <a:spcPct val="154166"/>
              </a:lnSpc>
            </a:pP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拼多多 / 快手意向</a:t>
            </a:r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TRACK RECORD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P.04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0922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REACH · 内容影响力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498600"/>
            <a:ext cx="889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开源与内容，也是战绩的一部分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6043" flipH="false" flipV="false">
            <a:off x="609624" y="23304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646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09600" y="26162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1646B8"/>
                </a:solidFill>
                <a:latin typeface="Anton"/>
                <a:ea typeface="Anton"/>
                <a:cs typeface="Anton"/>
                <a:sym typeface="Anton"/>
              </a:rPr>
              <a:t>17.8k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09600" y="34544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GitHub「二哥的 Java 进阶之路」star，另有 2.5k forks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572000" y="26162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F4F87"/>
                </a:solidFill>
                <a:latin typeface="Anton"/>
                <a:ea typeface="Anton"/>
                <a:cs typeface="Anton"/>
                <a:sym typeface="Anton"/>
              </a:rPr>
              <a:t>122.66万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572000" y="3454400"/>
            <a:ext cx="330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抖音账号近 30 日播放量（09.13–10.10），月均百万级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737600" y="2616200"/>
            <a:ext cx="2844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171512"/>
                </a:solidFill>
                <a:latin typeface="Anton"/>
                <a:ea typeface="Anton"/>
                <a:cs typeface="Anton"/>
                <a:sym typeface="Anton"/>
              </a:rPr>
              <a:t>3000+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737600" y="3454400"/>
            <a:ext cx="28448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「王二讲 Agent」飞书知识库单周阅读量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61" r="61" t="0" b="0"/>
          <a:stretch>
            <a:fillRect/>
          </a:stretch>
        </p:blipFill>
        <p:spPr>
          <a:xfrm rot="0" flipH="false" flipV="false">
            <a:off x="609600" y="4089400"/>
            <a:ext cx="4699000" cy="2260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09600" y="4089400"/>
            <a:ext cx="4699000" cy="22606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42" r="42" t="0" b="0"/>
          <a:stretch>
            <a:fillRect/>
          </a:stretch>
        </p:blipFill>
        <p:spPr>
          <a:xfrm rot="0" flipH="false" flipV="false">
            <a:off x="5969000" y="4165600"/>
            <a:ext cx="3784600" cy="2184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5969000" y="4165600"/>
            <a:ext cx="3784600" cy="21844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09200" y="4165600"/>
            <a:ext cx="1473200" cy="21844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287000" y="4368800"/>
            <a:ext cx="1168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1A51B"/>
                </a:solidFill>
                <a:latin typeface="Roboto Mono"/>
                <a:ea typeface="Roboto Mono"/>
                <a:cs typeface="Roboto Mono"/>
                <a:sym typeface="Roboto Mono"/>
              </a:rPr>
              <a:t>MORE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287000" y="4775200"/>
            <a:ext cx="1168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JobClaw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PmHub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技术派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PaiFlow / PaiAgent</a:t>
            </a:r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REACH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P.05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0668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CONTENTS · 本期目录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447800"/>
            <a:ext cx="635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两天，五条线索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286000"/>
            <a:ext cx="10160000" cy="6858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320800" y="2286000"/>
            <a:ext cx="114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1E2C2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667000" y="2286000"/>
            <a:ext cx="5461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开放解疑：随时打断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382000" y="2286000"/>
            <a:ext cx="2540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OPEN Q&amp;A FLOOR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098800"/>
            <a:ext cx="10160000" cy="685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320800" y="3098800"/>
            <a:ext cx="114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1E2C2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667000" y="3098800"/>
            <a:ext cx="5461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派聪明企业级 RAG 知识库实战拆解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382000" y="3098800"/>
            <a:ext cx="2540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Roboto Mono"/>
                <a:ea typeface="Roboto Mono"/>
                <a:cs typeface="Roboto Mono"/>
                <a:sym typeface="Roboto Mono"/>
              </a:rPr>
              <a:t>PAISMART RAG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3911600"/>
            <a:ext cx="10160000" cy="6858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320800" y="3911600"/>
            <a:ext cx="114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1A51B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2667000" y="3911600"/>
            <a:ext cx="5461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PaiCLI：对标 Claude Code 的终端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382000" y="3911600"/>
            <a:ext cx="2540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TERMINAL AGENT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4724400"/>
            <a:ext cx="10160000" cy="685800"/>
          </a:xfrm>
          <a:prstGeom prst="roundRect">
            <a:avLst>
              <a:gd name="adj" fmla="val 0"/>
            </a:avLst>
          </a:prstGeom>
          <a:solidFill>
            <a:srgbClr val="F1A51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320800" y="4724400"/>
            <a:ext cx="114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71512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2667000" y="4724400"/>
            <a:ext cx="5461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派简历：两个项目写成一页 PDF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382000" y="4724400"/>
            <a:ext cx="2540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>
                    <a:alpha val="7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ONE-PAGE RESUME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537200"/>
            <a:ext cx="10160000" cy="685800"/>
          </a:xfrm>
          <a:prstGeom prst="roundRect">
            <a:avLst>
              <a:gd name="adj" fmla="val 0"/>
            </a:avLst>
          </a:prstGeom>
          <a:solidFill>
            <a:srgbClr val="1646B8">
              <a:alpha val="8000"/>
            </a:srgbClr>
          </a:solidFill>
          <a:ln w="25400" cmpd="sng" cap="flat">
            <a:solidFill>
              <a:srgbClr val="1646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320800" y="5537200"/>
            <a:ext cx="114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646B8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2667000" y="5537200"/>
            <a:ext cx="5461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1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AI Agent：工具、趋势与择业闲谈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382000" y="5537200"/>
            <a:ext cx="2540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646B8"/>
                </a:solidFill>
                <a:latin typeface="Roboto Mono"/>
                <a:ea typeface="Roboto Mono"/>
                <a:cs typeface="Roboto Mono"/>
                <a:sym typeface="Roboto Mono"/>
              </a:rPr>
              <a:t>AGENTS TALK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CONTENTS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P.06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7874000" y="1016000"/>
            <a:ext cx="3810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20000">
                <a:solidFill>
                  <a:srgbClr val="1646B8">
                    <a:alpha val="10196"/>
                  </a:srgbClr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09600" y="1270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CHAPTER 01 · TOOL WALL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84200" y="1752600"/>
            <a:ext cx="711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先趁手，再谈 Agent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09600" y="2667000"/>
            <a:ext cx="685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工具没有标准答案，DeepSeek、Gemini、OpenAI 都可以聊，选自己顺手的那一把。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" y="3810000"/>
            <a:ext cx="2133600" cy="1905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12800" y="41148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DeepSeek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12800" y="4597400"/>
            <a:ext cx="1778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1E2C2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近期主力 Harness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870200" y="3810000"/>
            <a:ext cx="2133600" cy="19050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3073400" y="41148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Codex · GPT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3073400" y="4597400"/>
            <a:ext cx="1778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编码与对话生态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130800" y="3810000"/>
            <a:ext cx="2133600" cy="19050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5334000" y="41148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1A51B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Claude Code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334000" y="4597400"/>
            <a:ext cx="1778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PaiCLI 对标的终端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91400" y="3810000"/>
            <a:ext cx="2133600" cy="1905000"/>
          </a:xfrm>
          <a:prstGeom prst="roundRect">
            <a:avLst>
              <a:gd name="adj" fmla="val 0"/>
            </a:avLst>
          </a:prstGeom>
          <a:solidFill>
            <a:srgbClr val="1646B8">
              <a:alpha val="12000"/>
            </a:srgbClr>
          </a:solidFill>
          <a:ln w="25400" cmpd="sng" cap="flat">
            <a:solidFill>
              <a:srgbClr val="1646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594600" y="41148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1646B8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Gemini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594600" y="4597400"/>
            <a:ext cx="1778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答不上来现场补位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652000" y="3810000"/>
            <a:ext cx="1930400" cy="1905000"/>
          </a:xfrm>
          <a:prstGeom prst="roundRect">
            <a:avLst>
              <a:gd name="adj" fmla="val 0"/>
            </a:avLst>
          </a:prstGeom>
          <a:solidFill>
            <a:srgbClr val="FF4F87">
              <a:alpha val="12000"/>
            </a:srgbClr>
          </a:solidFill>
          <a:ln w="25400" cmpd="sng" cap="flat">
            <a:solidFill>
              <a:srgbClr val="FF4F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855200" y="4114800"/>
            <a:ext cx="1574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豆包工作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855200" y="4597400"/>
            <a:ext cx="15748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办公侧趁手工具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CHAPTER 01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P.07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1430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CHAPTER 02 · PAISMART RAG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574800"/>
            <a:ext cx="431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RAG，不止切碎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84200" y="2184400"/>
            <a:ext cx="431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646B8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文档算向量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33702" flipH="false" flipV="false">
            <a:off x="609631" y="3016250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609600" y="3327400"/>
            <a:ext cx="406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58333"/>
              </a:lnSpc>
              <a:defRPr/>
            </a:pPr>
            <a:r>
              <a:rPr lang="en-US" b="false" i="false" strike="noStrike" u="none" sz="15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很多人以为 RAG 就是把文档切碎、算出向量存起来，提问时比一比相似度再拼进提示词。面试只讲到这一层，追问大文件怎么防重、异步解析崩溃怎么恢复、专业术语搜不出来怎么办，很容易卡壳。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5461000"/>
            <a:ext cx="4064000" cy="6604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12800" y="5461000"/>
            <a:ext cx="36576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1A51B"/>
                </a:solidFill>
                <a:latin typeface="Roboto Mono"/>
                <a:ea typeface="Roboto Mono"/>
                <a:cs typeface="Roboto Mono"/>
                <a:sym typeface="Roboto Mono"/>
              </a:rPr>
              <a:t>Spring Boot 3 · ES · Kafka · Redis · MinIO · MySQL · Tika · SSE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63" r="63" t="0" b="0"/>
          <a:stretch>
            <a:fillRect/>
          </a:stretch>
        </p:blipFill>
        <p:spPr>
          <a:xfrm rot="0" flipH="false" flipV="false">
            <a:off x="5181600" y="1524000"/>
            <a:ext cx="6400800" cy="38227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5181600" y="1524000"/>
            <a:ext cx="6400800" cy="38227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181600" y="5461000"/>
            <a:ext cx="6400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派聪明 PaiSmart 企业级知识库：每条回答都附「来源#编号: 文件名 | 第X页」精确引用，可溯源。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CHAPTER 02 · RAG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P.08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0922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02-A · UPLOAD &amp; MERGE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498600"/>
            <a:ext cx="10414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5MB 固定分片，三处核验，条件更新合并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6043" flipH="false" flipV="false">
            <a:off x="609624" y="22542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646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70" r="70" t="0" b="0"/>
          <a:stretch>
            <a:fillRect/>
          </a:stretch>
        </p:blipFill>
        <p:spPr>
          <a:xfrm rot="0" flipH="false" flipV="false">
            <a:off x="609600" y="2590800"/>
            <a:ext cx="5791200" cy="3263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609600" y="2590800"/>
            <a:ext cx="5791200" cy="32639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09600" y="5994400"/>
            <a:ext cx="5791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FIG.01 · 分片上传与异步消费全链路手绘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959600" y="2590800"/>
            <a:ext cx="4622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646B8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三处记录分片进度，缺一不可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959600" y="3022600"/>
            <a:ext cx="4622800" cy="965200"/>
          </a:xfrm>
          <a:prstGeom prst="roundRect">
            <a:avLst>
              <a:gd name="adj" fmla="val 0"/>
            </a:avLst>
          </a:prstGeom>
          <a:solidFill>
            <a:srgbClr val="1646B8">
              <a:alpha val="8000"/>
            </a:srgbClr>
          </a:solidFill>
          <a:ln w="12700" cmpd="sng" cap="flat">
            <a:solidFill>
              <a:srgbClr val="1646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162800" y="3149600"/>
            <a:ext cx="421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Redis 位图（48h 过期，缺失自动回填）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162800" y="3530600"/>
            <a:ext cx="4216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key = upload:{userId}:{fileMd5}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959600" y="4038600"/>
            <a:ext cx="4622800" cy="889000"/>
          </a:xfrm>
          <a:prstGeom prst="roundRect">
            <a:avLst>
              <a:gd name="adj" fmla="val 0"/>
            </a:avLst>
          </a:prstGeom>
          <a:solidFill>
            <a:srgbClr val="1646B8">
              <a:alpha val="8000"/>
            </a:srgbClr>
          </a:solidFill>
          <a:ln w="12700" cmpd="sng" cap="flat">
            <a:solidFill>
              <a:srgbClr val="1646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162800" y="4191000"/>
            <a:ext cx="421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MySQL 分片信息表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162800" y="4521200"/>
            <a:ext cx="4216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唯一键校验分片完整性，作为最终事实来源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59600" y="5054600"/>
            <a:ext cx="4622800" cy="10414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162800" y="5207000"/>
            <a:ext cx="421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1A51B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MinIO 对象存储 + 条件更新合并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162800" y="5562600"/>
            <a:ext cx="421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全部到齐后条件更新「上传中→合并中」，合并到 merged/{fileMd5}，成功才清临时分片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02-A · UPLOAD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P.09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0922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02-B · ATOMIC &amp; RECOVERABLE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498600"/>
            <a:ext cx="10414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异步投递不丢，消费宕机可恢复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6043" flipH="false" flipV="false">
            <a:off x="609624" y="22542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646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2590800"/>
            <a:ext cx="5207000" cy="37592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89000" y="2844800"/>
            <a:ext cx="4648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生产端 · Outbox 本地消息表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69" flipH="false" flipV="false">
            <a:off x="889040" y="3321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1A51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889000" y="3556000"/>
            <a:ext cx="4648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① 同事务落表</a:t>
            </a: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：改文件状态为待处理，同时写入一条待发送记录，提交即一致。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89000" y="4419600"/>
            <a:ext cx="4648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② 异步投递</a:t>
            </a: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：事务提交后由线程池投递到 Kafka，不阻塞上传主链路。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89000" y="5283200"/>
            <a:ext cx="46482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③ 失败补发</a:t>
            </a: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：线程池满或网络抖动，每 5 秒定时任务指数退避扫描补发，封顶 300 秒。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75400" y="2590800"/>
            <a:ext cx="5207000" cy="37592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54800" y="2844800"/>
            <a:ext cx="4648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1A51B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消费端 · 租约认领与超时恢复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2969" flipH="false" flipV="false">
            <a:off x="6654840" y="3321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4F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6654800" y="35560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① 条件更新认领</a:t>
            </a: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：拿到 600 秒处理租约，写入起始时间与心跳。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654800" y="41910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② 清旧索引</a:t>
            </a: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：按文件 MD5 + 上传者 ID 精确清理旧向量。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654800" y="4826000"/>
            <a:ext cx="4648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③ 解析切块</a:t>
            </a: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：PDF 走 LiteParse 保页码；其余 21 种格式走 Apache Tika（22 种白名单）。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654800" y="5613400"/>
            <a:ext cx="4648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④ 心跳与恢复</a:t>
            </a: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：每批写 ES 回调心跳；超 600 秒由每 60 秒扫描放回队列，最多重试 3 次。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02-B · RELIABILITY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P.10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0922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02-C · HYBRID RETRIEVAL &amp; REACT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498600"/>
            <a:ext cx="10414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双路混合检索，ReAct 循环带页码作答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6043" flipH="false" flipV="false">
            <a:off x="609624" y="22542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646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70" r="70" t="0" b="0"/>
          <a:stretch>
            <a:fillRect/>
          </a:stretch>
        </p:blipFill>
        <p:spPr>
          <a:xfrm rot="0" flipH="false" flipV="false">
            <a:off x="609600" y="2590800"/>
            <a:ext cx="5791200" cy="3263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609600" y="2590800"/>
            <a:ext cx="5791200" cy="32639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09600" y="5994400"/>
            <a:ext cx="5791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FIG.02 · 混合检索与 ReAct 问答手绘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959600" y="2590800"/>
            <a:ext cx="4622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1646B8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search_knowledge 检索管线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959600" y="3022600"/>
            <a:ext cx="4622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1 权限过滤</a:t>
            </a:r>
            <a:r>
              <a:rPr lang="en-US" b="fals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：注入组织标签与公开属性，只召回本人可见文档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959600" y="3581400"/>
            <a:ext cx="4622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2 双路并行</a:t>
            </a:r>
            <a:r>
              <a:rPr lang="en-US" b="fals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：BM25 关键词 + KNN 向量余弦同时召回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959600" y="4140200"/>
            <a:ext cx="4622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3 RRF 融合</a:t>
            </a:r>
            <a:r>
              <a:rPr lang="en-US" b="fals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：倒数排名合并两路结果，避免单一打分偏差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959600" y="4699000"/>
            <a:ext cx="4622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4 重排过滤</a:t>
            </a:r>
            <a:r>
              <a:rPr lang="en-US" b="fals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：gte-rerank-v2 重排序，按分数阈值过滤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959600" y="5257800"/>
            <a:ext cx="4622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5 扩父分块</a:t>
            </a:r>
            <a:r>
              <a:rPr lang="en-US" b="false" i="false" strike="noStrike" u="none" sz="13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：子分块扩为完整父块，SSE 流式输出带页码引用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959600" y="5816600"/>
            <a:ext cx="4622800" cy="4826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162800" y="5816600"/>
            <a:ext cx="4216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1A51B"/>
                </a:solidFill>
                <a:latin typeface="Roboto Mono"/>
                <a:ea typeface="Roboto Mono"/>
                <a:cs typeface="Roboto Mono"/>
                <a:sym typeface="Roboto Mono"/>
              </a:rPr>
              <a:t>最多 4 轮 · 8 次工具调用 · (来源#编号: 文件名 | 第X页)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02-C · RETRIEVAL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P.11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1430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CHAPTER 03 · PAICLI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524000"/>
            <a:ext cx="457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71512"/>
                </a:solidFill>
                <a:latin typeface="Anton"/>
                <a:ea typeface="Anton"/>
                <a:cs typeface="Anton"/>
                <a:sym typeface="Anton"/>
              </a:rPr>
              <a:t>PaiCLI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09600" y="2311400"/>
            <a:ext cx="4521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646B8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终端命令行里的 Agent 工具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33702" flipH="false" flipV="false">
            <a:off x="609631" y="2940050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609600" y="3302000"/>
            <a:ext cx="419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58333"/>
              </a:lnSpc>
              <a:defRPr/>
            </a:pPr>
            <a:r>
              <a:rPr lang="en-US" b="false" i="false" strike="noStrike" u="none" sz="15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一个跑在命令行里的 Agent 工具，Java 21 实现，另有 Go、TypeScript、Python 版本。它能编辑文件、检索代码、执行终端命令、接入 MCP 协议并扩展浏览器自动化，是 AI 时代最容易上手、也最受面试官青睐的项目之一。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5435600"/>
            <a:ext cx="4191000" cy="6858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12800" y="5435600"/>
            <a:ext cx="3810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1A51B"/>
                </a:solidFill>
                <a:latin typeface="Roboto Mono"/>
                <a:ea typeface="Roboto Mono"/>
                <a:cs typeface="Roboto Mono"/>
                <a:sym typeface="Roboto Mono"/>
              </a:rPr>
              <a:t>Java 21 · DeepSeek API · MCP · CompletableFuture · Git 快照 · JLine · Lanterna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71" r="71" t="0" b="0"/>
          <a:stretch>
            <a:fillRect/>
          </a:stretch>
        </p:blipFill>
        <p:spPr>
          <a:xfrm rot="0" flipH="false" flipV="false">
            <a:off x="5232400" y="1524000"/>
            <a:ext cx="6350000" cy="4254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5232400" y="1524000"/>
            <a:ext cx="6350000" cy="42545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232400" y="59182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终端中 PaiCLI 调用 DeepSeek V4.1 Flash，展示 ReAct 思考与工具调用过程。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CHAPTER 03 · PAICLI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P.12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0922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03-A · THREE EXECUTION PATHS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498600"/>
            <a:ext cx="10414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三条执行路径，同一套工具注册表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6043" flipH="false" flipV="false">
            <a:off x="609624" y="22542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646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2667000"/>
            <a:ext cx="3454400" cy="36322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14400" y="2946400"/>
            <a:ext cx="2844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1E2C2"/>
                </a:solidFill>
                <a:latin typeface="Anton"/>
                <a:ea typeface="Anton"/>
                <a:cs typeface="Anton"/>
                <a:sym typeface="Anton"/>
              </a:rPr>
              <a:t>REACT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914400" y="3657600"/>
            <a:ext cx="2844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1A51B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默认循环路径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57290" flipH="false" flipV="false">
            <a:off x="914453" y="4159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1A51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914400" y="4368800"/>
            <a:ext cx="28448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模型边思考边调工具，一步一观察、一观察一再思考，直到完成任务。适合日常单步编码与问答。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68800" y="2667000"/>
            <a:ext cx="3454400" cy="36322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4673600" y="2946400"/>
            <a:ext cx="2844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1E2C2"/>
                </a:solidFill>
                <a:latin typeface="Anton"/>
                <a:ea typeface="Anton"/>
                <a:cs typeface="Anton"/>
                <a:sym typeface="Anton"/>
              </a:rPr>
              <a:t>PLAN-EXEC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4673600" y="3657600"/>
            <a:ext cx="2844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先规划，后执行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57290" flipH="false" flipV="false">
            <a:off x="4673653" y="4159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4673600" y="4368800"/>
            <a:ext cx="2844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触发：/plan 或 Shift+Tab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4673600" y="4876800"/>
            <a:ext cx="28448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先产出完整计划，再按步执行与核对。适合多步骤、跨文件的复杂改造任务。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2667000"/>
            <a:ext cx="3454400" cy="36322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8432800" y="2946400"/>
            <a:ext cx="2844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1A51B"/>
                </a:solidFill>
                <a:latin typeface="Anton"/>
                <a:ea typeface="Anton"/>
                <a:cs typeface="Anton"/>
                <a:sym typeface="Anton"/>
              </a:rPr>
              <a:t>TEAM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432800" y="3657600"/>
            <a:ext cx="2844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多 Agent 团队协作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57290" flipH="false" flipV="false">
            <a:off x="8432853" y="4159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4F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4" id="24"/>
          <p:cNvSpPr txBox="true"/>
          <p:nvPr/>
        </p:nvSpPr>
        <p:spPr>
          <a:xfrm rot="0" flipH="false" flipV="false">
            <a:off x="8432800" y="4368800"/>
            <a:ext cx="2844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1E2C2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触发：/team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8432800" y="4876800"/>
            <a:ext cx="28448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Planner 拆解任务，Worker 并行执行，Reviewer 审查结果，角色分工完成大任务。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03-A · PATHS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P.13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0922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03-B · ENGINEERING DETAILS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498600"/>
            <a:ext cx="10414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PaiCLI 的六个工程细节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6043" flipH="false" flipV="false">
            <a:off x="609624" y="22542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646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09600" y="26162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646B8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473200" y="2616200"/>
            <a:ext cx="4343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9 层系统提示词 + 前缀缓存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473200" y="2971800"/>
            <a:ext cx="43434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按稳定度从高到低拼接基础策略、性格、模式、审批、上下文规范、技能索引、运行时日期、动态记忆；18 个内置工具按名称排序发送，提升缓存命中。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375400" y="26162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646B8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239000" y="2616200"/>
            <a:ext cx="4343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手写 MCP 客户端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239000" y="2971800"/>
            <a:ext cx="43434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stdio 与 Streamable HTTP 手写协议，外部工具可动态挂载，不依赖现成 SDK。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09600" y="39624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4F87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473200" y="3962400"/>
            <a:ext cx="4343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渐进式 Skill 加载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473200" y="4318000"/>
            <a:ext cx="43434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提示词只留技能摘要，模型调 load_skill 时同轮注入完整正文，大幅节省上下文窗口。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375400" y="39624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4F87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239000" y="3962400"/>
            <a:ext cx="4343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失控守卫与停滞检测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239000" y="4318000"/>
            <a:ext cx="43434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连续 3 步重复参数或命中 8 类正则错误就提醒换思路；连续 5 轮工具签名相同则强制中止，只留一次无工具收尾汇报。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09600" y="5308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71512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473200" y="5308600"/>
            <a:ext cx="4343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权限策略与防注入边界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473200" y="5664200"/>
            <a:ext cx="4343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按每轮原始输入构造权限策略；工具结果包进非信任数据边界标签，防止提示词注入。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6375400" y="5308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71512"/>
                </a:solidFill>
                <a:latin typeface="Anton"/>
                <a:ea typeface="Anton"/>
                <a:cs typeface="Anton"/>
                <a:sym typeface="Anton"/>
              </a:rPr>
              <a:t>06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239000" y="5308600"/>
            <a:ext cx="4343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Git 快照一键回滚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239000" y="5664200"/>
            <a:ext cx="4343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结合 Git 快照服务，任意回合的代码变更都能一键回滚，改坏了随时退。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03-B · DETAILS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Roboto Mono"/>
                <a:ea typeface="Roboto Mono"/>
                <a:cs typeface="Roboto Mono"/>
                <a:sym typeface="Roboto Mono"/>
              </a:rPr>
              <a:t>P.14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0922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CHAPTER 04 · ONE-PAGE RESUME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1498600"/>
            <a:ext cx="10414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7151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派简历：把两个项目写成一页直投 PDF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6043" flipH="false" flipV="false">
            <a:off x="609624" y="2254250"/>
            <a:ext cx="167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1646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09600" y="2540000"/>
            <a:ext cx="3454400" cy="7366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38200" y="2540000"/>
            <a:ext cx="3048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一页可直投 PDF，当天拿到可投递状态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68800" y="2540000"/>
            <a:ext cx="3454400" cy="7366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597400" y="2540000"/>
            <a:ext cx="3048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派聪明 + PaiCLI 写进项目经历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540000"/>
            <a:ext cx="3454400" cy="7366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356600" y="2540000"/>
            <a:ext cx="30480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1A51B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量化指标包装，职责成果分栏陈述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37" r="37" t="0" b="0"/>
          <a:stretch>
            <a:fillRect/>
          </a:stretch>
        </p:blipFill>
        <p:spPr>
          <a:xfrm rot="0" flipH="false" flipV="false">
            <a:off x="609600" y="3632200"/>
            <a:ext cx="4978400" cy="2565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09600" y="3632200"/>
            <a:ext cx="4978400" cy="25654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09600" y="6273800"/>
            <a:ext cx="4978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FIG.03 · 优质简历列表（派简历）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rcRect l="74" r="74" t="0" b="0"/>
          <a:stretch>
            <a:fillRect/>
          </a:stretch>
        </p:blipFill>
        <p:spPr>
          <a:xfrm rot="0" flipH="false" flipV="false">
            <a:off x="6096000" y="3632200"/>
            <a:ext cx="4191000" cy="2362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096000" y="3632200"/>
            <a:ext cx="4191000" cy="23622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096000" y="6070600"/>
            <a:ext cx="4191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FIG.04 · 项目经历三栏 + 量化指标排版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09600" y="6502400"/>
            <a:ext cx="508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VOL.01 · 2026.10 · PAICODING CAMP ZINE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042400" y="6502400"/>
            <a:ext cx="254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71512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CHAPTER 04 · RESUME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51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609600" y="330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1E2C2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THE AI BOOTCAMP · LUOYANG LIT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4191000" y="3302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洛阳理工学院 · 两天开放式实训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414000" y="330200"/>
            <a:ext cx="1168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1E2C2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P.15 / 15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78" flipH="false" flipV="false">
            <a:off x="609604" y="6540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1E2C2">
                <a:alpha val="35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498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4F87"/>
                </a:solidFill>
                <a:latin typeface="Roboto Mono"/>
                <a:ea typeface="Roboto Mono"/>
                <a:cs typeface="Roboto Mono"/>
                <a:sym typeface="Roboto Mono"/>
              </a:rPr>
              <a:t>FINALE · AI AGENTS TALK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84200" y="2184400"/>
            <a:ext cx="1092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800">
                <a:solidFill>
                  <a:srgbClr val="F1E2C2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工具会换代，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84200" y="3200400"/>
            <a:ext cx="1092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800">
                <a:solidFill>
                  <a:srgbClr val="F1A51B"/>
                </a:solidFill>
                <a:latin typeface="ChillDuanSans WideSemiBold"/>
                <a:ea typeface="ChillDuanSans WideSemiBold"/>
                <a:cs typeface="ChillDuanSans WideSemiBold"/>
                <a:sym typeface="ChillDuanSans WideSemiBold"/>
              </a:rPr>
              <a:t>做过的项目不会。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22616" flipH="false" flipV="false">
            <a:off x="609621" y="4565650"/>
            <a:ext cx="193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F4F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609600" y="4851400"/>
            <a:ext cx="9144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600">
                <a:solidFill>
                  <a:srgbClr val="F1E2C2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Agent 是这个时代绕不开的话题，DeepSeek、Gemini、OpenAI 都可以谈。两天之后，希望你带着一份可直投的简历离场，而不是只记住几个名词。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" y="5969000"/>
            <a:ext cx="10972800" cy="25400"/>
          </a:xfrm>
          <a:prstGeom prst="roundRect">
            <a:avLst>
              <a:gd name="adj" fmla="val 0"/>
            </a:avLst>
          </a:prstGeom>
          <a:solidFill>
            <a:srgbClr val="F1E2C2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09600" y="61722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1E2C2">
                    <a:alpha val="7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沉默王二 · PAICODING · 技术派星球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772400" y="61722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1E2C2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END · 谢谢聆听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